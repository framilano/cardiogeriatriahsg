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it-IT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it-IT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07634B-00FD-4ACB-8104-20317FF117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Colonna B sempre modificabile come testo (verrà visualizzato sezione per sezione), il referto finale attinge dalla colonna B e prende tutto contenuto. Salvataggio automatico ad ogni cambio di sezione + possibilità di salvare manualmente le modifiche con icona floppy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A5EF66-A9E4-4D47-B131-530E18B95128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D1D0BA-F5C3-4B18-B01A-16112A884F0F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 TESTO -&gt; permette di visualizzare il testo nella colonna B. Vale per le sezioni: anagrafica, anamnesi geriatrica, raccordo clinico, EO+eCO, CGA, Conclusioni, terapia alla fine e consigli.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33D4A8-CA4F-4F46-923A-06A4CD6333A9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Aggiorna dati -&gt; permette di andare a compilare la colonna A (sezione a flag) con richiami testuali.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ECE2CB-C80A-490C-87E0-144C07C29420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DD6B45-D3A8-4CEE-A373-3C60F1965E9C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120E00-17D8-4907-A62D-C1367E0A4044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80FFB8-8192-4499-986C-C07723695F52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DD68CE-78D8-4337-B81A-65CF67482EE0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it-IT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62BAB0-0AA4-4F6C-BC38-D71155DB2300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FCED4B-A0C9-4279-8B30-E78B4867E6EE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6CA182-013A-4CE8-BC6C-E8DBF6338A15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E9B584-C90E-4833-A6FE-FA55809A5B10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it-IT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48CC69-1B1A-495D-9280-F6541CA84F8E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78F2FF-4BAC-4EFE-85E2-56702204A369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it-IT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it-IT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Fare clic per modificare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C41E1A-36CD-407B-9EC6-4EA9F37AF1CC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it-IT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32A246-A6CD-483D-85F8-A69889404F2C}" type="slidenum">
              <a:rPr lang="it-I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tangolo 3"/>
          <p:cNvSpPr/>
          <p:nvPr/>
        </p:nvSpPr>
        <p:spPr>
          <a:xfrm>
            <a:off x="0" y="0"/>
            <a:ext cx="12191400" cy="1264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7" name="Rettangolo 4"/>
          <p:cNvSpPr/>
          <p:nvPr/>
        </p:nvSpPr>
        <p:spPr>
          <a:xfrm>
            <a:off x="0" y="6393240"/>
            <a:ext cx="12191400" cy="464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8" name="Rettangolo 6"/>
          <p:cNvSpPr/>
          <p:nvPr/>
        </p:nvSpPr>
        <p:spPr>
          <a:xfrm>
            <a:off x="0" y="1265400"/>
            <a:ext cx="2152440" cy="51271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Rettangolo 7"/>
          <p:cNvSpPr/>
          <p:nvPr/>
        </p:nvSpPr>
        <p:spPr>
          <a:xfrm>
            <a:off x="2153160" y="1265400"/>
            <a:ext cx="5102280" cy="51271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" name="CasellaDiTesto 14"/>
          <p:cNvSpPr/>
          <p:nvPr/>
        </p:nvSpPr>
        <p:spPr>
          <a:xfrm>
            <a:off x="2351880" y="-46800"/>
            <a:ext cx="9839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NOME E COGNOME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DATA VISITA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PRIMA VISITA / CONTROLLO</a:t>
            </a: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it-IT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se controllo-&gt; pop up: vuoi recuperare ultima visita? Sì/No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TIPO VISITA: cardioger/cardiologica</a:t>
            </a: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Telemedicina: sì/no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Visita HF / amiloidosi / CGA per procedura / Cardiopalliative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sellaDiTesto 15"/>
          <p:cNvSpPr/>
          <p:nvPr/>
        </p:nvSpPr>
        <p:spPr>
          <a:xfrm>
            <a:off x="220320" y="431280"/>
            <a:ext cx="17118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NUOVA VISITA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ttangolo 18"/>
          <p:cNvSpPr/>
          <p:nvPr/>
        </p:nvSpPr>
        <p:spPr>
          <a:xfrm>
            <a:off x="0" y="274320"/>
            <a:ext cx="2152440" cy="68220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3" name="Rettangolo 1"/>
          <p:cNvSpPr/>
          <p:nvPr/>
        </p:nvSpPr>
        <p:spPr>
          <a:xfrm>
            <a:off x="3628080" y="15735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COLONNA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ttangolo 2"/>
          <p:cNvSpPr/>
          <p:nvPr/>
        </p:nvSpPr>
        <p:spPr>
          <a:xfrm>
            <a:off x="8731080" y="15519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COLONNA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tangolo 3"/>
          <p:cNvSpPr/>
          <p:nvPr/>
        </p:nvSpPr>
        <p:spPr>
          <a:xfrm>
            <a:off x="0" y="0"/>
            <a:ext cx="12191400" cy="73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6" name="Rettangolo 4"/>
          <p:cNvSpPr/>
          <p:nvPr/>
        </p:nvSpPr>
        <p:spPr>
          <a:xfrm>
            <a:off x="0" y="6587640"/>
            <a:ext cx="12191400" cy="269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Rettangolo 6"/>
          <p:cNvSpPr/>
          <p:nvPr/>
        </p:nvSpPr>
        <p:spPr>
          <a:xfrm>
            <a:off x="0" y="752040"/>
            <a:ext cx="2152440" cy="583488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C2F1C8"/>
              </a:solidFill>
              <a:effectLst/>
              <a:uFillTx/>
              <a:latin typeface="Aptos"/>
            </a:endParaRPr>
          </a:p>
        </p:txBody>
      </p:sp>
      <p:sp>
        <p:nvSpPr>
          <p:cNvPr id="78" name="Rettangolo 7"/>
          <p:cNvSpPr/>
          <p:nvPr/>
        </p:nvSpPr>
        <p:spPr>
          <a:xfrm>
            <a:off x="2153160" y="735120"/>
            <a:ext cx="5102280" cy="585144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" name="Rettangolo 9"/>
          <p:cNvSpPr/>
          <p:nvPr/>
        </p:nvSpPr>
        <p:spPr>
          <a:xfrm>
            <a:off x="0" y="74232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0" name="Rettangolo 10"/>
          <p:cNvSpPr/>
          <p:nvPr/>
        </p:nvSpPr>
        <p:spPr>
          <a:xfrm>
            <a:off x="0" y="12290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Rettangolo 11"/>
          <p:cNvSpPr/>
          <p:nvPr/>
        </p:nvSpPr>
        <p:spPr>
          <a:xfrm>
            <a:off x="0" y="17157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2" name="Rettangolo 12"/>
          <p:cNvSpPr/>
          <p:nvPr/>
        </p:nvSpPr>
        <p:spPr>
          <a:xfrm>
            <a:off x="0" y="22024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Rettangolo 13"/>
          <p:cNvSpPr/>
          <p:nvPr/>
        </p:nvSpPr>
        <p:spPr>
          <a:xfrm>
            <a:off x="0" y="26841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CasellaDiTesto 14"/>
          <p:cNvSpPr/>
          <p:nvPr/>
        </p:nvSpPr>
        <p:spPr>
          <a:xfrm>
            <a:off x="9301320" y="2455560"/>
            <a:ext cx="16315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AREA TESTO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COLONNA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sellaDiTesto 15"/>
          <p:cNvSpPr/>
          <p:nvPr/>
        </p:nvSpPr>
        <p:spPr>
          <a:xfrm>
            <a:off x="3215160" y="2455560"/>
            <a:ext cx="26442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AREA SCELTA MULTIPLA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COLONNA A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sellaDiTesto 16"/>
          <p:cNvSpPr/>
          <p:nvPr/>
        </p:nvSpPr>
        <p:spPr>
          <a:xfrm>
            <a:off x="54000" y="810360"/>
            <a:ext cx="2044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Anagrafica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sellaDiTesto 19"/>
          <p:cNvSpPr/>
          <p:nvPr/>
        </p:nvSpPr>
        <p:spPr>
          <a:xfrm>
            <a:off x="54000" y="13014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Anamnesi geriatrica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sellaDiTesto 20"/>
          <p:cNvSpPr/>
          <p:nvPr/>
        </p:nvSpPr>
        <p:spPr>
          <a:xfrm>
            <a:off x="54000" y="17924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sellaDiTesto 21"/>
          <p:cNvSpPr/>
          <p:nvPr/>
        </p:nvSpPr>
        <p:spPr>
          <a:xfrm>
            <a:off x="54000" y="22802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domiciliare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sellaDiTesto 22"/>
          <p:cNvSpPr/>
          <p:nvPr/>
        </p:nvSpPr>
        <p:spPr>
          <a:xfrm>
            <a:off x="43920" y="27669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Raccordo clinico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ttangolo 23"/>
          <p:cNvSpPr/>
          <p:nvPr/>
        </p:nvSpPr>
        <p:spPr>
          <a:xfrm>
            <a:off x="0" y="31658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" name="CasellaDiTesto 24"/>
          <p:cNvSpPr/>
          <p:nvPr/>
        </p:nvSpPr>
        <p:spPr>
          <a:xfrm>
            <a:off x="54000" y="32436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EO + ECO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sellaDiTesto 26"/>
          <p:cNvSpPr/>
          <p:nvPr/>
        </p:nvSpPr>
        <p:spPr>
          <a:xfrm>
            <a:off x="43920" y="37400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ttangolo 27"/>
          <p:cNvSpPr/>
          <p:nvPr/>
        </p:nvSpPr>
        <p:spPr>
          <a:xfrm>
            <a:off x="1440" y="41493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5" name="CasellaDiTesto 28"/>
          <p:cNvSpPr/>
          <p:nvPr/>
        </p:nvSpPr>
        <p:spPr>
          <a:xfrm>
            <a:off x="43920" y="42267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Conclusioni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ttangolo 29"/>
          <p:cNvSpPr/>
          <p:nvPr/>
        </p:nvSpPr>
        <p:spPr>
          <a:xfrm>
            <a:off x="144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" name="CasellaDiTesto 30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fine visita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asellaDiTesto 32"/>
          <p:cNvSpPr/>
          <p:nvPr/>
        </p:nvSpPr>
        <p:spPr>
          <a:xfrm>
            <a:off x="2158920" y="24480"/>
            <a:ext cx="705564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NOME E COGNOME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PRIMA VISITA / CONTROLLO NUMERO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sellaDiTesto 2"/>
          <p:cNvSpPr/>
          <p:nvPr/>
        </p:nvSpPr>
        <p:spPr>
          <a:xfrm>
            <a:off x="497160" y="61740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REFERTO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ttangolo 5"/>
          <p:cNvSpPr/>
          <p:nvPr/>
        </p:nvSpPr>
        <p:spPr>
          <a:xfrm>
            <a:off x="3240" y="6096240"/>
            <a:ext cx="2152440" cy="486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Rettangolo 8"/>
          <p:cNvSpPr/>
          <p:nvPr/>
        </p:nvSpPr>
        <p:spPr>
          <a:xfrm>
            <a:off x="3240" y="3654000"/>
            <a:ext cx="2152440" cy="486000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2" name="Rettangolo 17"/>
          <p:cNvSpPr/>
          <p:nvPr/>
        </p:nvSpPr>
        <p:spPr>
          <a:xfrm>
            <a:off x="0" y="511380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3" name="CasellaDiTesto 18"/>
          <p:cNvSpPr/>
          <p:nvPr/>
        </p:nvSpPr>
        <p:spPr>
          <a:xfrm>
            <a:off x="42480" y="51915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ttangolo 3"/>
          <p:cNvSpPr/>
          <p:nvPr/>
        </p:nvSpPr>
        <p:spPr>
          <a:xfrm>
            <a:off x="0" y="0"/>
            <a:ext cx="12191400" cy="73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5" name="Rettangolo 4"/>
          <p:cNvSpPr/>
          <p:nvPr/>
        </p:nvSpPr>
        <p:spPr>
          <a:xfrm>
            <a:off x="0" y="6587640"/>
            <a:ext cx="12191400" cy="269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6" name="Rettangolo 6"/>
          <p:cNvSpPr/>
          <p:nvPr/>
        </p:nvSpPr>
        <p:spPr>
          <a:xfrm>
            <a:off x="0" y="752040"/>
            <a:ext cx="2152440" cy="583488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Rettangolo 7"/>
          <p:cNvSpPr/>
          <p:nvPr/>
        </p:nvSpPr>
        <p:spPr>
          <a:xfrm>
            <a:off x="2153160" y="735120"/>
            <a:ext cx="5102280" cy="585144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8" name="Rettangolo 9"/>
          <p:cNvSpPr/>
          <p:nvPr/>
        </p:nvSpPr>
        <p:spPr>
          <a:xfrm>
            <a:off x="0" y="74232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Rettangolo 10"/>
          <p:cNvSpPr/>
          <p:nvPr/>
        </p:nvSpPr>
        <p:spPr>
          <a:xfrm>
            <a:off x="0" y="12290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0" name="Rettangolo 11"/>
          <p:cNvSpPr/>
          <p:nvPr/>
        </p:nvSpPr>
        <p:spPr>
          <a:xfrm>
            <a:off x="0" y="17157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1" name="Rettangolo 12"/>
          <p:cNvSpPr/>
          <p:nvPr/>
        </p:nvSpPr>
        <p:spPr>
          <a:xfrm>
            <a:off x="0" y="22024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2" name="Rettangolo 13"/>
          <p:cNvSpPr/>
          <p:nvPr/>
        </p:nvSpPr>
        <p:spPr>
          <a:xfrm>
            <a:off x="0" y="26841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3" name="CasellaDiTesto 15"/>
          <p:cNvSpPr/>
          <p:nvPr/>
        </p:nvSpPr>
        <p:spPr>
          <a:xfrm>
            <a:off x="2296080" y="1226880"/>
            <a:ext cx="4821840" cy="24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Vive con (MC)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☐ solo ☐ con coniuge ☐ con familiari ☐ con assistenza di badante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Deambulazione (SC)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☐ senza ausili ☐ con bastone ☐ con walker ☐ con assistenza ☐ non possibile ☐ assistito per passaggi posturali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Motricità (SC)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☐ Esce da solo ☐ esce accompagnato ☐ autonomo al domicilio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☐ esegue spostamento letto-poltrona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Cadute in 6 mesi (text): num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----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sellaDiTesto 16"/>
          <p:cNvSpPr/>
          <p:nvPr/>
        </p:nvSpPr>
        <p:spPr>
          <a:xfrm>
            <a:off x="54000" y="810360"/>
            <a:ext cx="2044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Anagrafica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sellaDiTesto 19"/>
          <p:cNvSpPr/>
          <p:nvPr/>
        </p:nvSpPr>
        <p:spPr>
          <a:xfrm>
            <a:off x="54000" y="13014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Anamnesi geriatrica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sellaDiTesto 20"/>
          <p:cNvSpPr/>
          <p:nvPr/>
        </p:nvSpPr>
        <p:spPr>
          <a:xfrm>
            <a:off x="54000" y="17924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sellaDiTesto 21"/>
          <p:cNvSpPr/>
          <p:nvPr/>
        </p:nvSpPr>
        <p:spPr>
          <a:xfrm>
            <a:off x="54000" y="22802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domiciliare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sellaDiTesto 22"/>
          <p:cNvSpPr/>
          <p:nvPr/>
        </p:nvSpPr>
        <p:spPr>
          <a:xfrm>
            <a:off x="43920" y="27669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Raccordo clinico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ttangolo 23"/>
          <p:cNvSpPr/>
          <p:nvPr/>
        </p:nvSpPr>
        <p:spPr>
          <a:xfrm>
            <a:off x="0" y="31658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0" name="CasellaDiTesto 24"/>
          <p:cNvSpPr/>
          <p:nvPr/>
        </p:nvSpPr>
        <p:spPr>
          <a:xfrm>
            <a:off x="54000" y="32436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EO + ECO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ttangolo 25"/>
          <p:cNvSpPr/>
          <p:nvPr/>
        </p:nvSpPr>
        <p:spPr>
          <a:xfrm>
            <a:off x="-10080" y="36626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2" name="CasellaDiTesto 26"/>
          <p:cNvSpPr/>
          <p:nvPr/>
        </p:nvSpPr>
        <p:spPr>
          <a:xfrm>
            <a:off x="43920" y="37400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ttangolo 27"/>
          <p:cNvSpPr/>
          <p:nvPr/>
        </p:nvSpPr>
        <p:spPr>
          <a:xfrm>
            <a:off x="-10080" y="41493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4" name="CasellaDiTesto 28"/>
          <p:cNvSpPr/>
          <p:nvPr/>
        </p:nvSpPr>
        <p:spPr>
          <a:xfrm>
            <a:off x="43920" y="42267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Conclusioni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ttangolo 29"/>
          <p:cNvSpPr/>
          <p:nvPr/>
        </p:nvSpPr>
        <p:spPr>
          <a:xfrm>
            <a:off x="-1008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6" name="CasellaDiTesto 30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sellaDiTesto 32"/>
          <p:cNvSpPr/>
          <p:nvPr/>
        </p:nvSpPr>
        <p:spPr>
          <a:xfrm>
            <a:off x="2158920" y="24480"/>
            <a:ext cx="705564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NOME E COGNOME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PRIMA VISITA / CONTROLLO NUMERO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ttangolo 1"/>
          <p:cNvSpPr/>
          <p:nvPr/>
        </p:nvSpPr>
        <p:spPr>
          <a:xfrm>
            <a:off x="0" y="1226880"/>
            <a:ext cx="2152440" cy="486000"/>
          </a:xfrm>
          <a:prstGeom prst="rect">
            <a:avLst/>
          </a:prstGeom>
          <a:solidFill>
            <a:srgbClr val="C2F1C8">
              <a:alpha val="49000"/>
            </a:srgbClr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9" name="CasellaDiTesto 2"/>
          <p:cNvSpPr/>
          <p:nvPr/>
        </p:nvSpPr>
        <p:spPr>
          <a:xfrm>
            <a:off x="7408800" y="1326600"/>
            <a:ext cx="39124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Prima visita.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Vive con coniuge.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Deambulazione con ausilio di walker. Esce di casa solo accompagnato.  2 cadute negli ultimi sei mesi.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asellaDiTesto 5"/>
          <p:cNvSpPr/>
          <p:nvPr/>
        </p:nvSpPr>
        <p:spPr>
          <a:xfrm>
            <a:off x="5788080" y="6126120"/>
            <a:ext cx="14778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&gt; Crea testo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Elemento grafico 14" descr="Disco contorno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143080" y="742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Elemento grafico 17" descr="Disco contorno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56160" y="742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CasellaDiTesto 18"/>
          <p:cNvSpPr/>
          <p:nvPr/>
        </p:nvSpPr>
        <p:spPr>
          <a:xfrm>
            <a:off x="497160" y="61740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REFERTO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ttangolo 33"/>
          <p:cNvSpPr/>
          <p:nvPr/>
        </p:nvSpPr>
        <p:spPr>
          <a:xfrm>
            <a:off x="3240" y="6096240"/>
            <a:ext cx="2152440" cy="486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5" name="Rettangolo 34"/>
          <p:cNvSpPr/>
          <p:nvPr/>
        </p:nvSpPr>
        <p:spPr>
          <a:xfrm>
            <a:off x="144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6" name="CasellaDiTesto 35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fine visita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ttangolo 36"/>
          <p:cNvSpPr/>
          <p:nvPr/>
        </p:nvSpPr>
        <p:spPr>
          <a:xfrm>
            <a:off x="0" y="511380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8" name="CasellaDiTesto 37"/>
          <p:cNvSpPr/>
          <p:nvPr/>
        </p:nvSpPr>
        <p:spPr>
          <a:xfrm>
            <a:off x="42480" y="51915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ttangolo 3"/>
          <p:cNvSpPr/>
          <p:nvPr/>
        </p:nvSpPr>
        <p:spPr>
          <a:xfrm>
            <a:off x="0" y="0"/>
            <a:ext cx="12191400" cy="73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0" name="Rettangolo 4"/>
          <p:cNvSpPr/>
          <p:nvPr/>
        </p:nvSpPr>
        <p:spPr>
          <a:xfrm>
            <a:off x="0" y="6587640"/>
            <a:ext cx="12191400" cy="269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1" name="Rettangolo 6"/>
          <p:cNvSpPr/>
          <p:nvPr/>
        </p:nvSpPr>
        <p:spPr>
          <a:xfrm>
            <a:off x="0" y="752040"/>
            <a:ext cx="2152440" cy="583488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2" name="Rettangolo 7"/>
          <p:cNvSpPr/>
          <p:nvPr/>
        </p:nvSpPr>
        <p:spPr>
          <a:xfrm>
            <a:off x="2153160" y="735120"/>
            <a:ext cx="5102280" cy="585144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3" name="Rettangolo 9"/>
          <p:cNvSpPr/>
          <p:nvPr/>
        </p:nvSpPr>
        <p:spPr>
          <a:xfrm>
            <a:off x="0" y="74232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4" name="Rettangolo 10"/>
          <p:cNvSpPr/>
          <p:nvPr/>
        </p:nvSpPr>
        <p:spPr>
          <a:xfrm>
            <a:off x="0" y="12290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5" name="Rettangolo 11"/>
          <p:cNvSpPr/>
          <p:nvPr/>
        </p:nvSpPr>
        <p:spPr>
          <a:xfrm>
            <a:off x="0" y="17157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6" name="Rettangolo 12"/>
          <p:cNvSpPr/>
          <p:nvPr/>
        </p:nvSpPr>
        <p:spPr>
          <a:xfrm>
            <a:off x="0" y="22024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7" name="Rettangolo 13"/>
          <p:cNvSpPr/>
          <p:nvPr/>
        </p:nvSpPr>
        <p:spPr>
          <a:xfrm>
            <a:off x="0" y="26841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8" name="CasellaDiTesto 16"/>
          <p:cNvSpPr/>
          <p:nvPr/>
        </p:nvSpPr>
        <p:spPr>
          <a:xfrm>
            <a:off x="54000" y="810360"/>
            <a:ext cx="2044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Anagrafica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asellaDiTesto 19"/>
          <p:cNvSpPr/>
          <p:nvPr/>
        </p:nvSpPr>
        <p:spPr>
          <a:xfrm>
            <a:off x="54000" y="13014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Anamnesi geriatrica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asellaDiTesto 20"/>
          <p:cNvSpPr/>
          <p:nvPr/>
        </p:nvSpPr>
        <p:spPr>
          <a:xfrm>
            <a:off x="54000" y="17924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asellaDiTesto 21"/>
          <p:cNvSpPr/>
          <p:nvPr/>
        </p:nvSpPr>
        <p:spPr>
          <a:xfrm>
            <a:off x="54000" y="22802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domiciliare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CasellaDiTesto 22"/>
          <p:cNvSpPr/>
          <p:nvPr/>
        </p:nvSpPr>
        <p:spPr>
          <a:xfrm>
            <a:off x="43920" y="27669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Raccordo clinico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ttangolo 23"/>
          <p:cNvSpPr/>
          <p:nvPr/>
        </p:nvSpPr>
        <p:spPr>
          <a:xfrm>
            <a:off x="0" y="31658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4" name="CasellaDiTesto 24"/>
          <p:cNvSpPr/>
          <p:nvPr/>
        </p:nvSpPr>
        <p:spPr>
          <a:xfrm>
            <a:off x="54000" y="32436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EO + ECO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ttangolo 25"/>
          <p:cNvSpPr/>
          <p:nvPr/>
        </p:nvSpPr>
        <p:spPr>
          <a:xfrm>
            <a:off x="-10080" y="36626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6" name="CasellaDiTesto 26"/>
          <p:cNvSpPr/>
          <p:nvPr/>
        </p:nvSpPr>
        <p:spPr>
          <a:xfrm>
            <a:off x="43920" y="37400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ttangolo 27"/>
          <p:cNvSpPr/>
          <p:nvPr/>
        </p:nvSpPr>
        <p:spPr>
          <a:xfrm>
            <a:off x="-10080" y="41493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8" name="CasellaDiTesto 28"/>
          <p:cNvSpPr/>
          <p:nvPr/>
        </p:nvSpPr>
        <p:spPr>
          <a:xfrm>
            <a:off x="43920" y="42267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Conclusioni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ttangolo 29"/>
          <p:cNvSpPr/>
          <p:nvPr/>
        </p:nvSpPr>
        <p:spPr>
          <a:xfrm>
            <a:off x="-1008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0" name="CasellaDiTesto 30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asellaDiTesto 31"/>
          <p:cNvSpPr/>
          <p:nvPr/>
        </p:nvSpPr>
        <p:spPr>
          <a:xfrm>
            <a:off x="10447200" y="6049080"/>
            <a:ext cx="14778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&gt; Aggiorna dati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asellaDiTesto 32"/>
          <p:cNvSpPr/>
          <p:nvPr/>
        </p:nvSpPr>
        <p:spPr>
          <a:xfrm>
            <a:off x="2158920" y="24480"/>
            <a:ext cx="705564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NOME E COGNOME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PRIMA VISITA / CONTROLLO NUMERO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ttangolo 1"/>
          <p:cNvSpPr/>
          <p:nvPr/>
        </p:nvSpPr>
        <p:spPr>
          <a:xfrm>
            <a:off x="-21600" y="1710000"/>
            <a:ext cx="2152440" cy="486000"/>
          </a:xfrm>
          <a:prstGeom prst="rect">
            <a:avLst/>
          </a:prstGeom>
          <a:solidFill>
            <a:srgbClr val="C2F1C8">
              <a:alpha val="49000"/>
            </a:srgbClr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4" name="CasellaDiTesto 8"/>
          <p:cNvSpPr/>
          <p:nvPr/>
        </p:nvSpPr>
        <p:spPr>
          <a:xfrm>
            <a:off x="497160" y="61740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REFERTO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ttangolo 14"/>
          <p:cNvSpPr/>
          <p:nvPr/>
        </p:nvSpPr>
        <p:spPr>
          <a:xfrm>
            <a:off x="3240" y="6096240"/>
            <a:ext cx="2152440" cy="486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6" name="Rettangolo 17"/>
          <p:cNvSpPr/>
          <p:nvPr/>
        </p:nvSpPr>
        <p:spPr>
          <a:xfrm>
            <a:off x="144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7" name="CasellaDiTesto 18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fine visita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ttangolo 33"/>
          <p:cNvSpPr/>
          <p:nvPr/>
        </p:nvSpPr>
        <p:spPr>
          <a:xfrm>
            <a:off x="0" y="511380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9" name="CasellaDiTesto 34"/>
          <p:cNvSpPr/>
          <p:nvPr/>
        </p:nvSpPr>
        <p:spPr>
          <a:xfrm>
            <a:off x="42480" y="51915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Elemento grafico 35" descr="Disco contorno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143080" y="742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Elemento grafico 36" descr="Disco contorno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56160" y="742680"/>
            <a:ext cx="564480" cy="56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ttangolo 3"/>
          <p:cNvSpPr/>
          <p:nvPr/>
        </p:nvSpPr>
        <p:spPr>
          <a:xfrm>
            <a:off x="0" y="0"/>
            <a:ext cx="12191400" cy="73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3" name="Rettangolo 4"/>
          <p:cNvSpPr/>
          <p:nvPr/>
        </p:nvSpPr>
        <p:spPr>
          <a:xfrm>
            <a:off x="0" y="6587640"/>
            <a:ext cx="12191400" cy="269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4" name="Rettangolo 6"/>
          <p:cNvSpPr/>
          <p:nvPr/>
        </p:nvSpPr>
        <p:spPr>
          <a:xfrm>
            <a:off x="0" y="752040"/>
            <a:ext cx="2152440" cy="583488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5" name="Rettangolo 9"/>
          <p:cNvSpPr/>
          <p:nvPr/>
        </p:nvSpPr>
        <p:spPr>
          <a:xfrm>
            <a:off x="0" y="74232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6" name="Rettangolo 10"/>
          <p:cNvSpPr/>
          <p:nvPr/>
        </p:nvSpPr>
        <p:spPr>
          <a:xfrm>
            <a:off x="0" y="12290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7" name="Rettangolo 11"/>
          <p:cNvSpPr/>
          <p:nvPr/>
        </p:nvSpPr>
        <p:spPr>
          <a:xfrm>
            <a:off x="0" y="17157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8" name="Rettangolo 12"/>
          <p:cNvSpPr/>
          <p:nvPr/>
        </p:nvSpPr>
        <p:spPr>
          <a:xfrm>
            <a:off x="0" y="22024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9" name="Rettangolo 13"/>
          <p:cNvSpPr/>
          <p:nvPr/>
        </p:nvSpPr>
        <p:spPr>
          <a:xfrm>
            <a:off x="0" y="26841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0" name="CasellaDiTesto 16"/>
          <p:cNvSpPr/>
          <p:nvPr/>
        </p:nvSpPr>
        <p:spPr>
          <a:xfrm>
            <a:off x="54000" y="810360"/>
            <a:ext cx="2044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Anagrafica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asellaDiTesto 19"/>
          <p:cNvSpPr/>
          <p:nvPr/>
        </p:nvSpPr>
        <p:spPr>
          <a:xfrm>
            <a:off x="54000" y="13014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Anamnesi geriatrica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asellaDiTesto 20"/>
          <p:cNvSpPr/>
          <p:nvPr/>
        </p:nvSpPr>
        <p:spPr>
          <a:xfrm>
            <a:off x="54000" y="17924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asellaDiTesto 21"/>
          <p:cNvSpPr/>
          <p:nvPr/>
        </p:nvSpPr>
        <p:spPr>
          <a:xfrm>
            <a:off x="54000" y="22802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domiciliare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CasellaDiTesto 22"/>
          <p:cNvSpPr/>
          <p:nvPr/>
        </p:nvSpPr>
        <p:spPr>
          <a:xfrm>
            <a:off x="43920" y="27669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Raccordo clinico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ttangolo 23"/>
          <p:cNvSpPr/>
          <p:nvPr/>
        </p:nvSpPr>
        <p:spPr>
          <a:xfrm>
            <a:off x="0" y="31658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6" name="CasellaDiTesto 24"/>
          <p:cNvSpPr/>
          <p:nvPr/>
        </p:nvSpPr>
        <p:spPr>
          <a:xfrm>
            <a:off x="54000" y="32436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EO + ECO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ttangolo 25"/>
          <p:cNvSpPr/>
          <p:nvPr/>
        </p:nvSpPr>
        <p:spPr>
          <a:xfrm>
            <a:off x="-10080" y="366264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8" name="CasellaDiTesto 26"/>
          <p:cNvSpPr/>
          <p:nvPr/>
        </p:nvSpPr>
        <p:spPr>
          <a:xfrm>
            <a:off x="43920" y="374004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ttangolo 27"/>
          <p:cNvSpPr/>
          <p:nvPr/>
        </p:nvSpPr>
        <p:spPr>
          <a:xfrm>
            <a:off x="-10080" y="414936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0" name="CasellaDiTesto 28"/>
          <p:cNvSpPr/>
          <p:nvPr/>
        </p:nvSpPr>
        <p:spPr>
          <a:xfrm>
            <a:off x="43920" y="42267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Conclusioni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ttangolo 29"/>
          <p:cNvSpPr/>
          <p:nvPr/>
        </p:nvSpPr>
        <p:spPr>
          <a:xfrm>
            <a:off x="-1008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2" name="CasellaDiTesto 30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CasellaDiTesto 32"/>
          <p:cNvSpPr/>
          <p:nvPr/>
        </p:nvSpPr>
        <p:spPr>
          <a:xfrm>
            <a:off x="2158920" y="24480"/>
            <a:ext cx="705564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NOME E COGNOME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PRIMA VISITA / CONTROLLO NUMERO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ttangolo 1"/>
          <p:cNvSpPr/>
          <p:nvPr/>
        </p:nvSpPr>
        <p:spPr>
          <a:xfrm>
            <a:off x="14040" y="6087960"/>
            <a:ext cx="2152440" cy="486000"/>
          </a:xfrm>
          <a:prstGeom prst="rect">
            <a:avLst/>
          </a:prstGeom>
          <a:solidFill>
            <a:srgbClr val="C2F1C8">
              <a:alpha val="49000"/>
            </a:srgbClr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5" name="CasellaDiTesto 2"/>
          <p:cNvSpPr/>
          <p:nvPr/>
        </p:nvSpPr>
        <p:spPr>
          <a:xfrm>
            <a:off x="5889240" y="2618640"/>
            <a:ext cx="225144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16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REFERTO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16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FULL SCREEN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CasellaDiTesto 5"/>
          <p:cNvSpPr/>
          <p:nvPr/>
        </p:nvSpPr>
        <p:spPr>
          <a:xfrm>
            <a:off x="497160" y="617400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REFERTO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ttangolo 8"/>
          <p:cNvSpPr/>
          <p:nvPr/>
        </p:nvSpPr>
        <p:spPr>
          <a:xfrm>
            <a:off x="3240" y="6096240"/>
            <a:ext cx="2152440" cy="486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8" name="Rettangolo 14"/>
          <p:cNvSpPr/>
          <p:nvPr/>
        </p:nvSpPr>
        <p:spPr>
          <a:xfrm>
            <a:off x="1440" y="463608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9" name="CasellaDiTesto 15"/>
          <p:cNvSpPr/>
          <p:nvPr/>
        </p:nvSpPr>
        <p:spPr>
          <a:xfrm>
            <a:off x="43920" y="471348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Terapia fine visita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ttangolo 17"/>
          <p:cNvSpPr/>
          <p:nvPr/>
        </p:nvSpPr>
        <p:spPr>
          <a:xfrm>
            <a:off x="0" y="5113800"/>
            <a:ext cx="2152440" cy="4860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1" name="CasellaDiTesto 18"/>
          <p:cNvSpPr/>
          <p:nvPr/>
        </p:nvSpPr>
        <p:spPr>
          <a:xfrm>
            <a:off x="42480" y="5191560"/>
            <a:ext cx="2251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Consigli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Application>LibreOffice/26.2.2.2$Linux_X86_64 LibreOffice_project/620$Build-2</Application>
  <AppVersion>15.0000</AppVersion>
  <Words>386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2026-03-20T12:18:29Z</dcterms:created>
  <dc:creator>m.marelli31@campus.unimib.it</dc:creator>
  <dc:description/>
  <dc:language>en-US</dc:language>
  <cp:lastModifiedBy/>
  <dcterms:modified xsi:type="dcterms:W3CDTF">2026-04-11T13:21:07Z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5</vt:i4>
  </property>
</Properties>
</file>